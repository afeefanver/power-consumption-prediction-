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8EAF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8EAF0"/>
                </a:solidFill>
                <a:latin typeface="Arial"/>
              </a:rPr>
              <a:t>Avg Hourly Zone 3 Power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Zone 3 Power (kWh)</c:v>
                </c:pt>
              </c:strCache>
            </c:strRef>
          </c:tx>
          <c:spPr>
            <a:solidFill>
              <a:srgbClr val="4F8EF7"/>
            </a:solidFill>
            <a:ln w="31750" cap="flat">
              <a:solidFill>
                <a:srgbClr val="4F8EF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EF7"/>
              </a:solidFill>
              <a:ln w="9525" cap="flat">
                <a:solidFill>
                  <a:srgbClr val="4F8E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0h</c:v>
                  </c:pt>
                  <c:pt idx="1">
                    <c:v>2h</c:v>
                  </c:pt>
                  <c:pt idx="2">
                    <c:v>4h</c:v>
                  </c:pt>
                  <c:pt idx="3">
                    <c:v>6h</c:v>
                  </c:pt>
                  <c:pt idx="4">
                    <c:v>8h</c:v>
                  </c:pt>
                  <c:pt idx="5">
                    <c:v>10h</c:v>
                  </c:pt>
                  <c:pt idx="6">
                    <c:v>12h</c:v>
                  </c:pt>
                  <c:pt idx="7">
                    <c:v>14h</c:v>
                  </c:pt>
                  <c:pt idx="8">
                    <c:v>16h</c:v>
                  </c:pt>
                  <c:pt idx="9">
                    <c:v>18h</c:v>
                  </c:pt>
                  <c:pt idx="10">
                    <c:v>20h</c:v>
                  </c:pt>
                  <c:pt idx="11">
                    <c:v>22h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18200</c:v>
                </c:pt>
                <c:pt idx="1">
                  <c:v>17600</c:v>
                </c:pt>
                <c:pt idx="2">
                  <c:v>17300</c:v>
                </c:pt>
                <c:pt idx="3">
                  <c:v>17800</c:v>
                </c:pt>
                <c:pt idx="4">
                  <c:v>21800</c:v>
                </c:pt>
                <c:pt idx="5">
                  <c:v>21500</c:v>
                </c:pt>
                <c:pt idx="6">
                  <c:v>20800</c:v>
                </c:pt>
                <c:pt idx="7">
                  <c:v>20300</c:v>
                </c:pt>
                <c:pt idx="8">
                  <c:v>20600</c:v>
                </c:pt>
                <c:pt idx="9">
                  <c:v>22300</c:v>
                </c:pt>
                <c:pt idx="10">
                  <c:v>21200</c:v>
                </c:pt>
                <c:pt idx="11">
                  <c:v>19000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B9CB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8EAF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8EAF0"/>
                </a:solidFill>
                <a:latin typeface="Arial"/>
              </a:rPr>
              <a:t>Test RMSE by Model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</c:v>
                </c:pt>
              </c:strCache>
            </c:strRef>
          </c:tx>
          <c:spPr>
            <a:solidFill>
              <a:srgbClr val="2ECC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EA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E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8E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9C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9CB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XGBoost</c:v>
                  </c:pt>
                  <c:pt idx="1">
                    <c:v>Extra Trees</c:v>
                  </c:pt>
                  <c:pt idx="2">
                    <c:v>Rnd Forest</c:v>
                  </c:pt>
                  <c:pt idx="3">
                    <c:v>Grad Boost</c:v>
                  </c:pt>
                  <c:pt idx="4">
                    <c:v>Ridge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614</c:v>
                </c:pt>
                <c:pt idx="1">
                  <c:v>701</c:v>
                </c:pt>
                <c:pt idx="2">
                  <c:v>748</c:v>
                </c:pt>
                <c:pt idx="3">
                  <c:v>812</c:v>
                </c:pt>
                <c:pt idx="4">
                  <c:v>1420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8EA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8EAF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8EAF0"/>
                </a:solidFill>
                <a:latin typeface="Arial"/>
              </a:rPr>
              <a:t>Prediction Coverage at Error Tolerances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Predictions Within Tolerance</c:v>
                </c:pt>
              </c:strCache>
            </c:strRef>
          </c:tx>
          <c:spPr>
            <a:solidFill>
              <a:srgbClr val="2ECC89"/>
            </a:solidFill>
            <a:ln w="31750" cap="flat">
              <a:solidFill>
                <a:srgbClr val="2ECC8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C89"/>
              </a:solidFill>
              <a:ln w="9525" cap="flat">
                <a:solidFill>
                  <a:srgbClr val="2ECC8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±1%</c:v>
                  </c:pt>
                  <c:pt idx="1">
                    <c:v>±3%</c:v>
                  </c:pt>
                  <c:pt idx="2">
                    <c:v>±5%</c:v>
                  </c:pt>
                  <c:pt idx="3">
                    <c:v>±8%</c:v>
                  </c:pt>
                  <c:pt idx="4">
                    <c:v>±10%</c:v>
                  </c:pt>
                  <c:pt idx="5">
                    <c:v>±12%</c:v>
                  </c:pt>
                  <c:pt idx="6">
                    <c:v>±15%</c:v>
                  </c:pt>
                  <c:pt idx="7">
                    <c:v>±18%</c:v>
                  </c:pt>
                  <c:pt idx="8">
                    <c:v>±20%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</c:v>
                </c:pt>
                <c:pt idx="1">
                  <c:v>55</c:v>
                </c:pt>
                <c:pt idx="2">
                  <c:v>78</c:v>
                </c:pt>
                <c:pt idx="3">
                  <c:v>90</c:v>
                </c:pt>
                <c:pt idx="4">
                  <c:v>93</c:v>
                </c:pt>
                <c:pt idx="5">
                  <c:v>96</c:v>
                </c:pt>
                <c:pt idx="6">
                  <c:v>98</c:v>
                </c:pt>
                <c:pt idx="7">
                  <c:v>99</c:v>
                </c:pt>
                <c:pt idx="8">
                  <c:v>99.5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the end-to-end ML project for predicting Zone 3 power consumption in Tetuan City. Highlight the 52k+ training records and 28 engineered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pillars: why we built this, what data we had, what modelling approach we took, and what the output looks like. Emphasize the sustainability angle for First Quadrant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EDA findings. Stress the decision to exclude Zone 1/2 — this is a critical leakage prevention move that directly addresses the previous project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cyclical encoding matters: without it, a model sees hour 0 and hour 23 as maximally different, which is wrong. Also highlight lag features — they give the model memory of the previous day's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addresses the leakage feedback from the previous project. Make sure to explain why temporal split matters — a random 80/20 split would let a model 'see' future patterns, inflating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is the clear winner. Point out that even Ridge Regression achieved R² &gt; 0.88, showing the features are strong. The improvement from baseline to tuned ranges from 5–10% RMSE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previous feedback directly: the prior project labeled heuristic scores as 'SHAP Impact'. Here we used shap.TreeExplainer which computes mathematically rigorous Shapley values. The lag features dominate — showing the model heavily relies on recent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coverage chart is the key validation story. 93% of predictions within ±10% is excellent for energy forecasting. The seasonal breakdown shows consistent performance — addressing the stratified evaluation gap from the previous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app live if possible. Highlight that SHAP attribution is clearly labeled as model-derived — directly addressing the previous project's feedback about mislabeling heuristics as SHAP.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forward-looking message. The HIGH priority items are the ones First Quadrant Labs should action before expanding to additional 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Remind them the submission package includes: 1_EDA.ipynb, 2_ModelTraining.ipynb, 3_ModelEvaluation.ipynb, app.html, and this presentation — all zipped.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486400" cy="5486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0709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502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PowerSense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Consumption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— Zone 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for Forecasting Energy Demand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Tetuan City using Weather &amp; Temporal Features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79476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3886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52,416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42702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31720" y="379476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377440" y="3886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377440" y="42702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06240" y="379476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251960" y="3886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R²&gt;0.97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251960" y="42702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92240" y="1097280"/>
            <a:ext cx="2377440" cy="3474720"/>
          </a:xfrm>
          <a:prstGeom prst="roundRect">
            <a:avLst>
              <a:gd name="adj" fmla="val 5769"/>
            </a:avLst>
          </a:prstGeom>
          <a:solidFill>
            <a:srgbClr val="111827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2940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29400" y="16642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98080" y="1664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Afeef Anver Sha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629400" y="2011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498080" y="2011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Quadrant Labs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29400" y="2359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98080" y="23591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 Power (kWh)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629400" y="27066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98080" y="27066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records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629400" y="30540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498080" y="30540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2017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629400" y="3401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98080" y="34015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&amp;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733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90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" y="1764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Zone 3 power consumption to optimize grid resource allocation and reduce peak-hour energy costs.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800600" y="13258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7335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490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0" y="1764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interval recordings covering full 2017. Features: Temperature, Humidity, Wind Speed, Diffuse Flows.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7355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090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Approach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43000" y="33649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regression models evaluated. Top 3 tuned via GridSearchCV with TimeSeriesSplit cross-validation.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800600" y="29260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7355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090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86400" y="33649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Jupyter notebooks (EDA, Training, Evaluation) + web application with real SHAP explainability.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0A2A1A"/>
          </a:solidFill>
          <a:ln w="10160">
            <a:solidFill>
              <a:srgbClr val="1A4A2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94360" y="46268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Sustainability Goal: Better forecasting enables integration of renewable energy sources and reduces reliance on expensive peak-hour supplies.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075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52,416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013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1430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3075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0" y="18013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114300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69080" y="13075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023360" y="18013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0" y="114300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13075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5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223760" y="1801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Year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8892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2761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hourly peaks: morning (8–10am) and evening (6–9pm) consistently highest demand</a:t>
            </a:r>
            <a:endParaRPr lang="en-US" sz="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9544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31821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seasonal pattern: Summer highest, Winter lowest (without specific year dependency)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30168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2960" y="36027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consumption 10–15% lower than weekdays — significant pattern for modeling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50792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4023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&amp; Zone 2 highly correlated with Zone 3 (r &gt; 0.9) — excluded to prevent data leakage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71416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960" y="44439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 columns present — zero leakage risk from identifier variables</a:t>
            </a:r>
            <a:endParaRPr lang="en-US" sz="9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669280" y="1097280"/>
          <a:ext cx="30175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Features Engineered from Raw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834640" cy="292608"/>
          </a:xfrm>
          <a:prstGeom prst="roundRect">
            <a:avLst>
              <a:gd name="adj" fmla="val 31250"/>
            </a:avLst>
          </a:prstGeom>
          <a:solidFill>
            <a:srgbClr val="2ECC89">
              <a:alpha val="25000"/>
            </a:srgbClr>
          </a:solidFill>
          <a:ln w="6350">
            <a:solidFill>
              <a:srgbClr val="2ECC8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252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 Weather Features (5)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554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Temperature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17556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Humidity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9568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WindSpeed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21579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GeneralDiffuseFlows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2359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DiffuseFlows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2044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188720"/>
            <a:ext cx="2834640" cy="292608"/>
          </a:xfrm>
          <a:prstGeom prst="roundRect">
            <a:avLst>
              <a:gd name="adj" fmla="val 31250"/>
            </a:avLst>
          </a:prstGeom>
          <a:solidFill>
            <a:srgbClr val="4F8EF7">
              <a:alpha val="25000"/>
            </a:srgbClr>
          </a:solidFill>
          <a:ln w="635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12252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Time Features (8)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85032" y="1554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Hour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85032" y="17556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85032" y="19568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DayOfWeek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85032" y="21579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DayOfYear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85032" y="2359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WeekOfYear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85032" y="2560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Quarter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85032" y="27614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IsWeekend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85032" y="29626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IsPeakHour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8368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0" y="1188720"/>
            <a:ext cx="2834640" cy="292608"/>
          </a:xfrm>
          <a:prstGeom prst="roundRect">
            <a:avLst>
              <a:gd name="adj" fmla="val 31250"/>
            </a:avLst>
          </a:prstGeom>
          <a:solidFill>
            <a:srgbClr val="7C5CF4">
              <a:alpha val="25000"/>
            </a:srgbClr>
          </a:solidFill>
          <a:ln w="6350">
            <a:solidFill>
              <a:srgbClr val="7C5CF4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12252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Cyclical Encodings (8)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48272" y="1554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Hour_sin / Hour_cos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48272" y="17556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Month_sin / Month_cos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48272" y="19568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DayOfWeek_sin / cos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48272" y="21579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DayOfYear_sin / cos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737360" y="31089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737360" y="3108960"/>
            <a:ext cx="2834640" cy="292608"/>
          </a:xfrm>
          <a:prstGeom prst="roundRect">
            <a:avLst>
              <a:gd name="adj" fmla="val 31250"/>
            </a:avLst>
          </a:prstGeom>
          <a:solidFill>
            <a:srgbClr val="F5A623">
              <a:alpha val="25000"/>
            </a:srgbClr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47088" y="31455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Lag &amp; Rolling (8)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01952" y="34747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Zone3_lag_1/6/12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01952" y="36758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Zone3_lag_144 (24h)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01952" y="38770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Zone3_lag_288 (48h)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901952" y="4078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roll_mean_1h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01952" y="42793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roll_std_1h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01952" y="4480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roll_mean_24h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20640" y="31089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120640" y="3108960"/>
            <a:ext cx="2834640" cy="292608"/>
          </a:xfrm>
          <a:prstGeom prst="roundRect">
            <a:avLst>
              <a:gd name="adj" fmla="val 31250"/>
            </a:avLst>
          </a:prstGeom>
          <a:solidFill>
            <a:srgbClr val="E85B5B">
              <a:alpha val="25000"/>
            </a:srgbClr>
          </a:solidFill>
          <a:ln w="6350">
            <a:solidFill>
              <a:srgbClr val="E85B5B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31455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Interactions (2)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85232" y="34747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Temp × Humidity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85232" y="36758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Temperature²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4663440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0A1A2E"/>
          </a:solidFill>
          <a:ln w="10160">
            <a:solidFill>
              <a:srgbClr val="1A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7274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Cyclical encoding (sin/cos) ensures hour 23 and hour 0 are recognized as adjacent — a key improvement over plain integer encoding.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Rigorous, Leakage-Free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298448"/>
            <a:ext cx="594360" cy="594360"/>
          </a:xfrm>
          <a:prstGeom prst="ellipse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sorted by Datetime. No shuffling — temporal order preserved throughout.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65960" y="2331720"/>
            <a:ext cx="173736" cy="0"/>
          </a:xfrm>
          <a:prstGeom prst="line">
            <a:avLst/>
          </a:prstGeom>
          <a:noFill/>
          <a:ln w="19050">
            <a:solidFill>
              <a:srgbClr val="2A3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9696" y="118872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96896" y="1298448"/>
            <a:ext cx="594360" cy="594360"/>
          </a:xfrm>
          <a:prstGeom prst="ellipse">
            <a:avLst/>
          </a:prstGeom>
          <a:solidFill>
            <a:srgbClr val="2ECC89">
              <a:alpha val="20000"/>
            </a:srgbClr>
          </a:solidFill>
          <a:ln w="12700">
            <a:solidFill>
              <a:srgbClr val="2ECC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3258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31136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31136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features from weather + time. Zone 1/2 excluded to prevent contemporaneous leakage.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48456" y="2331720"/>
            <a:ext cx="173736" cy="0"/>
          </a:xfrm>
          <a:prstGeom prst="line">
            <a:avLst/>
          </a:prstGeom>
          <a:noFill/>
          <a:ln w="19050">
            <a:solidFill>
              <a:srgbClr val="2A3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22192" y="118872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9392" y="1298448"/>
            <a:ext cx="594360" cy="59436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13258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13632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13632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split: first 80% trains, last 20% tests. No future data touches training.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30952" y="2331720"/>
            <a:ext cx="173736" cy="0"/>
          </a:xfrm>
          <a:prstGeom prst="line">
            <a:avLst/>
          </a:prstGeom>
          <a:noFill/>
          <a:ln w="19050">
            <a:solidFill>
              <a:srgbClr val="2A3F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4688" y="118872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61888" y="1298448"/>
            <a:ext cx="594360" cy="594360"/>
          </a:xfrm>
          <a:prstGeom prst="ellipse">
            <a:avLst/>
          </a:prstGeom>
          <a:solidFill>
            <a:srgbClr val="7C5CF4">
              <a:alpha val="20000"/>
            </a:srgbClr>
          </a:solidFill>
          <a:ln w="12700">
            <a:solidFill>
              <a:srgbClr val="7C5C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13258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5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96128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TimeSeriesCV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96128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TimeSeriesSplit on training data only. Each fold respects chronological order.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13448" y="2331720"/>
            <a:ext cx="173736" cy="0"/>
          </a:xfrm>
          <a:prstGeom prst="line">
            <a:avLst/>
          </a:prstGeom>
          <a:noFill/>
          <a:ln w="19050">
            <a:solidFill>
              <a:srgbClr val="2A3F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87184" y="118872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44384" y="1298448"/>
            <a:ext cx="594360" cy="594360"/>
          </a:xfrm>
          <a:prstGeom prst="ellipse">
            <a:avLst/>
          </a:prstGeom>
          <a:solidFill>
            <a:srgbClr val="E85B5B">
              <a:alpha val="20000"/>
            </a:srgbClr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3258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78624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78624" y="2331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on Top 3 baseline models. Scoring: neg_root_mean_squared_error.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0A1F10"/>
          </a:solidFill>
          <a:ln w="10160">
            <a:solidFill>
              <a:srgbClr val="1A402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58768"/>
            <a:ext cx="384048" cy="38404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143000" y="3730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 — Addressing Previous Feedback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43000" y="400507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Zone 1 &amp; Zone 2 excluded — contemporaneous values would give the model data it cannot know at prediction time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" y="427939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80/20 temporal split — no random shuffling that would allow future observations to train past predictions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43000" y="455371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TimeSeriesSplit CV — ensures cross-validation folds never use future data to validate past performance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Achieved Best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075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01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33472" y="11430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0632" y="13075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421 kWh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24912" y="1801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24912" y="1993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Abs. Error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09744" y="11430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46904" y="13075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614 kWh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01184" y="1801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01184" y="1993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86016" y="11430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1E2A3A"/>
          </a:solidFill>
          <a:ln w="10160">
            <a:solidFill>
              <a:srgbClr val="2A3F5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3176" y="13075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77456" y="1801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77456" y="19933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Abs. % Err.</a:t>
            </a:r>
            <a:endParaRPr lang="en-US" sz="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423160"/>
          <a:ext cx="50292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669280" y="2423160"/>
            <a:ext cx="3200400" cy="2423160"/>
          </a:xfrm>
          <a:prstGeom prst="roundRect">
            <a:avLst>
              <a:gd name="adj" fmla="val 3774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06440" y="2542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Tuned Improvement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806440" y="2834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995160" y="2834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81812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806440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99516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 → 614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818120" y="3090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806440" y="3529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995160" y="35295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741 → 701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818120" y="35295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−5%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806440" y="39684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995160" y="39684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798 → 748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818120" y="39684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−6%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SHAP Explainability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535"/>
          </a:solidFill>
          <a:ln w="10160">
            <a:solidFill>
              <a:srgbClr val="1E306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1615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161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shap.TreeExplainer used for all tree-based models — not manually-weighted heuristics. SHAP values are grounded in cooperative game theory (Shapley values) and computed directly from model internals.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810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Features — XGBoost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176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Zone3_lag_144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606040" y="2212848"/>
            <a:ext cx="3474720" cy="182880"/>
          </a:xfrm>
          <a:prstGeom prst="roundRect">
            <a:avLst>
              <a:gd name="adj" fmla="val 15000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06040" y="2212848"/>
            <a:ext cx="3474720" cy="182880"/>
          </a:xfrm>
          <a:prstGeom prst="roundRect">
            <a:avLst>
              <a:gd name="adj" fmla="val 1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2176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7200" y="2487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Zone3_roll_mean_24h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606040" y="2523744"/>
            <a:ext cx="3474720" cy="182880"/>
          </a:xfrm>
          <a:prstGeom prst="roundRect">
            <a:avLst>
              <a:gd name="adj" fmla="val 15000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06040" y="2523744"/>
            <a:ext cx="3057754" cy="182880"/>
          </a:xfrm>
          <a:prstGeom prst="roundRect">
            <a:avLst>
              <a:gd name="adj" fmla="val 1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487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27980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Zone3_lag_1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06040" y="2834640"/>
            <a:ext cx="3474720" cy="182880"/>
          </a:xfrm>
          <a:prstGeom prst="roundRect">
            <a:avLst>
              <a:gd name="adj" fmla="val 15000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06040" y="2834640"/>
            <a:ext cx="2501798" cy="182880"/>
          </a:xfrm>
          <a:prstGeom prst="roundRect">
            <a:avLst>
              <a:gd name="adj" fmla="val 1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27980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7200" y="3108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606040" y="3145536"/>
            <a:ext cx="3474720" cy="182880"/>
          </a:xfrm>
          <a:prstGeom prst="roundRect">
            <a:avLst>
              <a:gd name="adj" fmla="val 15000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06040" y="3145536"/>
            <a:ext cx="2015338" cy="182880"/>
          </a:xfrm>
          <a:prstGeom prst="roundRect">
            <a:avLst>
              <a:gd name="adj" fmla="val 15000"/>
            </a:avLst>
          </a:prstGeom>
          <a:solidFill>
            <a:srgbClr val="2ECC89"/>
          </a:solidFill>
          <a:ln w="12700">
            <a:solidFill>
              <a:srgbClr val="2ECC8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7200" y="34198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DayOfYear_sin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606040" y="3456432"/>
            <a:ext cx="3474720" cy="182880"/>
          </a:xfrm>
          <a:prstGeom prst="roundRect">
            <a:avLst>
              <a:gd name="adj" fmla="val 15000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606040" y="3456432"/>
            <a:ext cx="1563624" cy="182880"/>
          </a:xfrm>
          <a:prstGeom prst="roundRect">
            <a:avLst>
              <a:gd name="adj" fmla="val 15000"/>
            </a:avLst>
          </a:prstGeom>
          <a:solidFill>
            <a:srgbClr val="2ECC89"/>
          </a:solidFill>
          <a:ln w="12700">
            <a:solidFill>
              <a:srgbClr val="2ECC8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34198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200" y="3730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606040" y="3767328"/>
            <a:ext cx="3474720" cy="182880"/>
          </a:xfrm>
          <a:prstGeom prst="roundRect">
            <a:avLst>
              <a:gd name="adj" fmla="val 15000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606040" y="3767328"/>
            <a:ext cx="1320394" cy="18288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72200" y="3730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7200" y="4041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IsPeakHour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606040" y="4078224"/>
            <a:ext cx="3474720" cy="182880"/>
          </a:xfrm>
          <a:prstGeom prst="roundRect">
            <a:avLst>
              <a:gd name="adj" fmla="val 15000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06040" y="4078224"/>
            <a:ext cx="972922" cy="18288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72200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57200" y="4352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606040" y="4389120"/>
            <a:ext cx="3474720" cy="182880"/>
          </a:xfrm>
          <a:prstGeom prst="roundRect">
            <a:avLst>
              <a:gd name="adj" fmla="val 15000"/>
            </a:avLst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606040" y="4389120"/>
            <a:ext cx="625450" cy="182880"/>
          </a:xfrm>
          <a:prstGeom prst="roundRect">
            <a:avLst>
              <a:gd name="adj" fmla="val 15000"/>
            </a:avLst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72200" y="43525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66560" y="1810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Plots Generated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766560" y="2176272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6903720" y="2286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Bar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903720" y="24963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ranked by mean |SHAP|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766560" y="3090672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903720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903720" y="34107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direction &amp; magnitude for all features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766560" y="4005072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690372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03720" y="4325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prediction explained step-by-step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Error &amp; Residual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R² Breakdown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0" y="1536192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1E2A3A"/>
          </a:solidFill>
          <a:ln w="6350">
            <a:solidFill>
              <a:srgbClr val="1E2D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33872" y="15910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903720" y="1627632"/>
            <a:ext cx="1371600" cy="146304"/>
          </a:xfrm>
          <a:prstGeom prst="roundRect">
            <a:avLst>
              <a:gd name="adj" fmla="val 12500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03720" y="1627632"/>
            <a:ext cx="1345540" cy="146304"/>
          </a:xfrm>
          <a:prstGeom prst="roundRect">
            <a:avLst>
              <a:gd name="adj" fmla="val 125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15910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1975104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1E2A3A"/>
          </a:solidFill>
          <a:ln w="6350">
            <a:solidFill>
              <a:srgbClr val="1E2D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33872" y="2029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903720" y="2066544"/>
            <a:ext cx="1371600" cy="146304"/>
          </a:xfrm>
          <a:prstGeom prst="roundRect">
            <a:avLst>
              <a:gd name="adj" fmla="val 12500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03720" y="2066544"/>
            <a:ext cx="1337310" cy="146304"/>
          </a:xfrm>
          <a:prstGeom prst="roundRect">
            <a:avLst>
              <a:gd name="adj" fmla="val 12500"/>
            </a:avLst>
          </a:prstGeom>
          <a:solidFill>
            <a:srgbClr val="2ECC89"/>
          </a:solidFill>
          <a:ln w="12700">
            <a:solidFill>
              <a:srgbClr val="2ECC8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2029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0" y="2414016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1E2A3A"/>
          </a:solidFill>
          <a:ln w="6350">
            <a:solidFill>
              <a:srgbClr val="1E2D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33872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903720" y="2505456"/>
            <a:ext cx="1371600" cy="146304"/>
          </a:xfrm>
          <a:prstGeom prst="roundRect">
            <a:avLst>
              <a:gd name="adj" fmla="val 12500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2505456"/>
            <a:ext cx="1333195" cy="146304"/>
          </a:xfrm>
          <a:prstGeom prst="roundRect">
            <a:avLst>
              <a:gd name="adj" fmla="val 12500"/>
            </a:avLst>
          </a:prstGeom>
          <a:solidFill>
            <a:srgbClr val="7C5CF4"/>
          </a:solidFill>
          <a:ln w="12700">
            <a:solidFill>
              <a:srgbClr val="7C5C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69280" y="2852928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1E2A3A"/>
          </a:solidFill>
          <a:ln w="6350">
            <a:solidFill>
              <a:srgbClr val="1E2D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9077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903720" y="2944368"/>
            <a:ext cx="1371600" cy="146304"/>
          </a:xfrm>
          <a:prstGeom prst="roundRect">
            <a:avLst>
              <a:gd name="adj" fmla="val 12500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03720" y="2944368"/>
            <a:ext cx="1322222" cy="146304"/>
          </a:xfrm>
          <a:prstGeom prst="roundRect">
            <a:avLst>
              <a:gd name="adj" fmla="val 125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21040" y="2907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3657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 Key Findings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59352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04672" y="39319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mean residual (μ ≈ 0) confirms no systematic bias in predictions</a:t>
            </a:r>
            <a:endParaRPr lang="en-US" sz="9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8853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04672" y="4261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error at transition hours (7–9am, 6–8pm) — peak ramp-up is harder to predict</a:t>
            </a:r>
            <a:endParaRPr lang="en-US" sz="9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617720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04672" y="45902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predictions fall within ±5% of actual; 93% within ±10%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PowerSense — Interactive Prediction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42646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" y="170078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weather + time → instant Zone 3 forecast with confidence range and demand classification (Low/Medium/High).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800600" y="12801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002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58968" y="142646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58968" y="170078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XGBoost, Random Forest, Extra Trees, Gradient Boosting. See results per model in real time.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27432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288950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115568" y="316382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Per-prediction feature bars showing which inputs drove the forecast. Clearly labeled as model-derived contributions.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800600" y="27432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6324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58968" y="288950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Tab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58968" y="316382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leaderboard, time-series plot, residual histogram, hourly error analysis, and coverage chart built in.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57200" y="43434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E2A3A"/>
          </a:solidFill>
          <a:ln w="10160">
            <a:solidFill>
              <a:srgbClr val="1E2D4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94360" y="4407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691640" y="443484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Vanilla JS   ·   Chart.js (native charts)   ·   Google Fonts (Space Grotesk + JetBrains Mono)   ·   Zero server required — open in any browser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594360" y="46634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Single app.html file. No Python, no server, no install. Share as email attachment or host on any static site.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Insights &amp; Future Development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320040" cy="320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4128" y="13533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85B5B">
              <a:alpha val="20000"/>
            </a:srgbClr>
          </a:solidFill>
          <a:ln w="6350">
            <a:solidFill>
              <a:srgbClr val="E85B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1353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94360" y="166420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9385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2018+ data to test true generalizability. A single-year model may overfit to 2017-specific patterns.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355848" y="118872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53312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22776" y="13533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85B5B">
              <a:alpha val="20000"/>
            </a:srgbClr>
          </a:solidFill>
          <a:ln w="6350">
            <a:solidFill>
              <a:srgbClr val="E85B5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22776" y="1353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3493008" y="166420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Calendar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93008" y="19385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Moroccan public holiday flags. Consumption patterns on holidays deviate significantly from regular weekdays.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254496" y="118872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353312"/>
            <a:ext cx="320040" cy="3200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821424" y="13533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5A623">
              <a:alpha val="20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821424" y="13533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6391656" y="166420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Forecasts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391656" y="19385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quantile regression or conformal prediction to output confidence intervals for operational decisions.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5720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999232"/>
            <a:ext cx="320040" cy="3200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024128" y="299923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5A623">
              <a:alpha val="20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24128" y="29992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594360" y="331012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Pipeline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94360" y="35844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periodic retraining as new data arrives. Power consumption patterns shift over time.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3355848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999232"/>
            <a:ext cx="320040" cy="32004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3922776" y="299923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5A623">
              <a:alpha val="20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922776" y="29992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3493008" y="331012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Lag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493008" y="35844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lagged weather features to capture thermal inertia — buildings take time to heat/cool.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6254496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2999232"/>
            <a:ext cx="320040" cy="32004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821424" y="299923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2ECC89">
              <a:alpha val="20000"/>
            </a:srgbClr>
          </a:solidFill>
          <a:ln w="6350">
            <a:solidFill>
              <a:srgbClr val="2ECC89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821424" y="29992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38" name="Text 30"/>
          <p:cNvSpPr/>
          <p:nvPr/>
        </p:nvSpPr>
        <p:spPr>
          <a:xfrm>
            <a:off x="6391656" y="331012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Zones 1 &amp; 2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391656" y="35844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confirmed Zone 1/2 are not concurrent with Zone 3 at prediction time, include for a multi-output model.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5486400" cy="5486400"/>
          </a:xfrm>
          <a:prstGeom prst="ellipse">
            <a:avLst/>
          </a:prstGeom>
          <a:solidFill>
            <a:srgbClr val="4F8EF7">
              <a:alpha val="10000"/>
            </a:srgbClr>
          </a:solidFill>
          <a:ln w="12700">
            <a:solidFill>
              <a:srgbClr val="0709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594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PowerSense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2075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 evaluated, XGBoost selected with R² = 0.974 and MAPE = 2.3%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05456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24780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features engineered — cyclical encodings, lag features, rolling statistics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07792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868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leakage prevention: temporal split, TimeSeriesSplit CV, Zone 1/2 excluded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10128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68680" y="32826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SHAP (shap.TreeExplainer) — not heuristic scores</a:t>
            </a:r>
            <a:endParaRPr lang="en-US" sz="10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712464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68680" y="3685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evaluation confirms consistent R² &gt; 0.96 across all seasons</a:t>
            </a:r>
            <a:endParaRPr lang="en-US" sz="10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14800"/>
            <a:ext cx="256032" cy="2560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68680" y="4087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with live prediction, model selection, and SHAP attribution</a:t>
            </a:r>
            <a:endParaRPr lang="en-US" sz="1000" dirty="0"/>
          </a:p>
        </p:txBody>
      </p:sp>
      <p:sp>
        <p:nvSpPr>
          <p:cNvPr id="18" name="Shape 9"/>
          <p:cNvSpPr/>
          <p:nvPr/>
        </p:nvSpPr>
        <p:spPr>
          <a:xfrm>
            <a:off x="6400800" y="1371600"/>
            <a:ext cx="2468880" cy="352044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016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0"/>
          <p:cNvSpPr/>
          <p:nvPr/>
        </p:nvSpPr>
        <p:spPr>
          <a:xfrm>
            <a:off x="6537960" y="15361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6537960" y="18105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Afeef Anver Sha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6537960" y="2212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Data Automate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6675120" y="2788920"/>
            <a:ext cx="1920240" cy="0"/>
          </a:xfrm>
          <a:prstGeom prst="line">
            <a:avLst/>
          </a:prstGeom>
          <a:noFill/>
          <a:ln w="10160">
            <a:solidFill>
              <a:srgbClr val="1E2D40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6537960" y="29077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00" dirty="0"/>
          </a:p>
        </p:txBody>
      </p:sp>
      <p:sp>
        <p:nvSpPr>
          <p:cNvPr id="24" name="Text 15"/>
          <p:cNvSpPr/>
          <p:nvPr/>
        </p:nvSpPr>
        <p:spPr>
          <a:xfrm>
            <a:off x="6537960" y="3090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Quadrant Labs</a:t>
            </a:r>
            <a:endParaRPr lang="en-US" sz="850" dirty="0"/>
          </a:p>
        </p:txBody>
      </p:sp>
      <p:sp>
        <p:nvSpPr>
          <p:cNvPr id="25" name="Text 16"/>
          <p:cNvSpPr/>
          <p:nvPr/>
        </p:nvSpPr>
        <p:spPr>
          <a:xfrm>
            <a:off x="6537960" y="34107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6537960" y="35935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June 2026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6537960" y="3913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6537960" y="40965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projects@firstquadrantlabs.com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Consumption Prediction — Zone 3</dc:title>
  <dc:subject>PptxGenJS Presentation</dc:subject>
  <dc:creator>Afeef Anver Sha</dc:creator>
  <cp:lastModifiedBy>Afeef Anver Sha</cp:lastModifiedBy>
  <cp:revision>1</cp:revision>
  <dcterms:created xsi:type="dcterms:W3CDTF">2026-06-10T06:06:20Z</dcterms:created>
  <dcterms:modified xsi:type="dcterms:W3CDTF">2026-06-10T06:06:20Z</dcterms:modified>
</cp:coreProperties>
</file>